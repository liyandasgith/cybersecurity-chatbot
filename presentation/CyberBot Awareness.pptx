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oboto Mono" charset="1" panose="00000000000000000000"/>
      <p:regular r:id="rId20"/>
    </p:embeddedFont>
    <p:embeddedFont>
      <p:font typeface="Roboto Mono Bold" charset="1" panose="00000000000000000000"/>
      <p:regular r:id="rId21"/>
    </p:embeddedFont>
    <p:embeddedFont>
      <p:font typeface="League Spartan" charset="1" panose="000008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0" y="0"/>
            <a:ext cx="5715000" cy="10287000"/>
            <a:chOff x="0" y="0"/>
            <a:chExt cx="7620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6572250"/>
            <a:ext cx="10668000" cy="2095500"/>
            <a:chOff x="0" y="0"/>
            <a:chExt cx="14224000" cy="2794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4224000" cy="2794000"/>
              <a:chOff x="0" y="0"/>
              <a:chExt cx="14224000" cy="2794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22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422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71500" y="479425"/>
              <a:ext cx="12700000" cy="1348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boot cyberbot --awareness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[OK] knowledge base online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[READY] ask a security question_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1" id="11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INTRO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573000" y="2534841"/>
            <a:ext cx="5715000" cy="4679641"/>
          </a:xfrm>
          <a:custGeom>
            <a:avLst/>
            <a:gdLst/>
            <a:ahLst/>
            <a:cxnLst/>
            <a:rect r="r" b="b" t="t" l="l"/>
            <a:pathLst>
              <a:path h="4679641" w="5715000">
                <a:moveTo>
                  <a:pt x="0" y="0"/>
                </a:moveTo>
                <a:lnTo>
                  <a:pt x="5715000" y="0"/>
                </a:lnTo>
                <a:lnTo>
                  <a:pt x="5715000" y="4679640"/>
                </a:lnTo>
                <a:lnTo>
                  <a:pt x="0" y="4679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381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2500" y="771525"/>
            <a:ext cx="857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PROJECT PROPOSAL  ·  JAVA 17+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1857375"/>
            <a:ext cx="10382250" cy="149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1"/>
              </a:lnSpc>
            </a:pPr>
            <a:r>
              <a:rPr lang="en-US" sz="6075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Cybersecurity Awareness</a:t>
            </a:r>
          </a:p>
          <a:p>
            <a:pPr algn="l">
              <a:lnSpc>
                <a:spcPts val="5771"/>
              </a:lnSpc>
            </a:pPr>
            <a:r>
              <a:rPr lang="en-US" sz="6075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Chatbot (CyberBot)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" y="4238625"/>
            <a:ext cx="6858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61616"/>
                </a:solidFill>
                <a:latin typeface="DM Sans"/>
                <a:ea typeface="DM Sans"/>
                <a:cs typeface="DM Sans"/>
                <a:sym typeface="DM Sans"/>
              </a:rPr>
              <a:t>Presented by </a:t>
            </a:r>
            <a:r>
              <a:rPr lang="en-US" sz="2400" b="true">
                <a:solidFill>
                  <a:srgbClr val="161616"/>
                </a:solidFill>
                <a:latin typeface="DM Sans Bold"/>
                <a:ea typeface="DM Sans Bold"/>
                <a:cs typeface="DM Sans Bold"/>
                <a:sym typeface="DM Sans Bold"/>
              </a:rPr>
              <a:t>Liyanda Tonisi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11777" y="330517"/>
            <a:ext cx="5237445" cy="139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╔══════════════════╗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║   C Y B E R B O T  ║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╚══ secure. learn. act. ══╝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0" y="1000125"/>
            <a:ext cx="7143750" cy="2714625"/>
            <a:chOff x="0" y="0"/>
            <a:chExt cx="9525000" cy="3619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250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3619500"/>
                  </a:lnTo>
                  <a:lnTo>
                    <a:pt x="0" y="3619500"/>
                  </a:ln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5250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4095750"/>
            <a:ext cx="6191250" cy="2667000"/>
            <a:chOff x="0" y="0"/>
            <a:chExt cx="8255000" cy="3556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255000" cy="3556000"/>
              <a:chOff x="0" y="0"/>
              <a:chExt cx="8255000" cy="3556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255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255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54000" y="555625"/>
              <a:ext cx="762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Traditional training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54000" y="1123950"/>
              <a:ext cx="7620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161616"/>
                  </a:solidFill>
                  <a:latin typeface="DM Sans"/>
                  <a:ea typeface="DM Sans"/>
                  <a:cs typeface="DM Sans"/>
                  <a:sym typeface="DM Sans"/>
                </a:rPr>
                <a:t>Long sessions. Dense slides. Low recall.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20000" y="4095750"/>
            <a:ext cx="9810750" cy="2667000"/>
            <a:chOff x="0" y="0"/>
            <a:chExt cx="13081000" cy="3556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3081000" cy="3556000"/>
              <a:chOff x="0" y="0"/>
              <a:chExt cx="13081000" cy="3556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081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3081000">
                    <a:moveTo>
                      <a:pt x="0" y="0"/>
                    </a:moveTo>
                    <a:lnTo>
                      <a:pt x="13081000" y="0"/>
                    </a:lnTo>
                    <a:lnTo>
                      <a:pt x="13081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3081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17500" y="555625"/>
              <a:ext cx="9652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Everyday exposure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17500" y="1177925"/>
              <a:ext cx="11049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PHISHING  /  RANSOMWARE  /  MALWARE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WEAK PASSWORDS  /  PUBLIC WI-FI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8" id="18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AWARENESS GAP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02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443828" y="1088476"/>
            <a:ext cx="5173154" cy="2537923"/>
          </a:xfrm>
          <a:custGeom>
            <a:avLst/>
            <a:gdLst/>
            <a:ahLst/>
            <a:cxnLst/>
            <a:rect r="r" b="b" t="t" l="l"/>
            <a:pathLst>
              <a:path h="2537923" w="5173154">
                <a:moveTo>
                  <a:pt x="0" y="0"/>
                </a:moveTo>
                <a:lnTo>
                  <a:pt x="5173154" y="0"/>
                </a:lnTo>
                <a:lnTo>
                  <a:pt x="5173154" y="2537923"/>
                </a:lnTo>
                <a:lnTo>
                  <a:pt x="0" y="253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" r="-99511" b="-17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57250" y="638175"/>
            <a:ext cx="5715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01 / THE PROBLEM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7250" y="1314450"/>
            <a:ext cx="100012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Threats move fast.</a:t>
            </a:r>
          </a:p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Awareness fades faster.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667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02 / EXECUTIVE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428750"/>
            <a:ext cx="7143750" cy="145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7"/>
              </a:lnSpc>
            </a:pPr>
            <a:r>
              <a:rPr lang="en-US" sz="58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Short answers.</a:t>
            </a:r>
          </a:p>
          <a:p>
            <a:pPr algn="l">
              <a:lnSpc>
                <a:spcPts val="5557"/>
              </a:lnSpc>
            </a:pPr>
            <a:r>
              <a:rPr lang="en-US" sz="58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Safer decisions.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3400425"/>
            <a:ext cx="685800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61616"/>
                </a:solidFill>
                <a:latin typeface="DM Sans"/>
                <a:ea typeface="DM Sans"/>
                <a:cs typeface="DM Sans"/>
                <a:sym typeface="DM Sans"/>
              </a:rPr>
              <a:t>CyberBot is an interactive Java console app that delivers practical cybersecurity advice in plain language—without assuming a technical background.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0" y="1524000"/>
            <a:ext cx="8572500" cy="6286500"/>
            <a:chOff x="0" y="0"/>
            <a:chExt cx="11430000" cy="8382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430000" cy="8382000"/>
              <a:chOff x="0" y="0"/>
              <a:chExt cx="11430000" cy="8382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430000" cy="8382000"/>
              </a:xfrm>
              <a:custGeom>
                <a:avLst/>
                <a:gdLst/>
                <a:ahLst/>
                <a:cxnLst/>
                <a:rect r="r" b="b" t="t" l="l"/>
                <a:pathLst>
                  <a:path h="8382000" w="11430000">
                    <a:moveTo>
                      <a:pt x="0" y="0"/>
                    </a:moveTo>
                    <a:lnTo>
                      <a:pt x="11430000" y="0"/>
                    </a:lnTo>
                    <a:lnTo>
                      <a:pt x="11430000" y="8382000"/>
                    </a:lnTo>
                    <a:lnTo>
                      <a:pt x="0" y="83820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1430000" cy="842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1430000" cy="660400"/>
              <a:chOff x="0" y="0"/>
              <a:chExt cx="11430000" cy="660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430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11430000">
                    <a:moveTo>
                      <a:pt x="0" y="0"/>
                    </a:moveTo>
                    <a:lnTo>
                      <a:pt x="11430000" y="0"/>
                    </a:lnTo>
                    <a:lnTo>
                      <a:pt x="11430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1430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98500" y="742950"/>
              <a:ext cx="9652000" cy="238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$ java -jar cyberbot.jar</a:t>
              </a:r>
            </a:p>
            <a:p>
              <a:pPr algn="l">
                <a:lnSpc>
                  <a:spcPts val="2025"/>
                </a:lnSpc>
              </a:pP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CYBERBOT &gt; Hi Liyanda. What can I help you secure today?</a:t>
              </a:r>
            </a:p>
            <a:p>
              <a:pPr algn="l">
                <a:lnSpc>
                  <a:spcPts val="2025"/>
                </a:lnSpc>
              </a:pP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 &gt; How do I spot a phishing email?</a:t>
              </a:r>
            </a:p>
            <a:p>
              <a:pPr algn="l">
                <a:lnSpc>
                  <a:spcPts val="2025"/>
                </a:lnSpc>
              </a:pP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CYBERBOT &gt; Check urgency, sender details and unexpected links.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7258288"/>
            <a:ext cx="2316010" cy="704850"/>
            <a:chOff x="0" y="0"/>
            <a:chExt cx="3088014" cy="939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88014" cy="939800"/>
            </a:xfrm>
            <a:custGeom>
              <a:avLst/>
              <a:gdLst/>
              <a:ahLst/>
              <a:cxnLst/>
              <a:rect r="r" b="b" t="t" l="l"/>
              <a:pathLst>
                <a:path h="939800" w="3088014">
                  <a:moveTo>
                    <a:pt x="52231" y="0"/>
                  </a:moveTo>
                  <a:lnTo>
                    <a:pt x="3035783" y="0"/>
                  </a:lnTo>
                  <a:cubicBezTo>
                    <a:pt x="3064629" y="0"/>
                    <a:pt x="3088014" y="23385"/>
                    <a:pt x="3088014" y="52231"/>
                  </a:cubicBezTo>
                  <a:lnTo>
                    <a:pt x="3088014" y="887569"/>
                  </a:lnTo>
                  <a:cubicBezTo>
                    <a:pt x="3088014" y="916415"/>
                    <a:pt x="3064629" y="939800"/>
                    <a:pt x="3035783" y="939800"/>
                  </a:cubicBezTo>
                  <a:lnTo>
                    <a:pt x="52231" y="939800"/>
                  </a:lnTo>
                  <a:cubicBezTo>
                    <a:pt x="23385" y="939800"/>
                    <a:pt x="0" y="916415"/>
                    <a:pt x="0" y="887569"/>
                  </a:cubicBezTo>
                  <a:lnTo>
                    <a:pt x="0" y="52231"/>
                  </a:lnTo>
                  <a:cubicBezTo>
                    <a:pt x="0" y="23385"/>
                    <a:pt x="23385" y="0"/>
                    <a:pt x="52231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088014" cy="92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CONVERSATIONAL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05188" y="7239000"/>
            <a:ext cx="2190750" cy="704850"/>
            <a:chOff x="0" y="0"/>
            <a:chExt cx="2921000" cy="939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1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921000">
                  <a:moveTo>
                    <a:pt x="55217" y="0"/>
                  </a:moveTo>
                  <a:lnTo>
                    <a:pt x="2865783" y="0"/>
                  </a:lnTo>
                  <a:cubicBezTo>
                    <a:pt x="2896278" y="0"/>
                    <a:pt x="2921000" y="24722"/>
                    <a:pt x="2921000" y="55217"/>
                  </a:cubicBezTo>
                  <a:lnTo>
                    <a:pt x="2921000" y="884583"/>
                  </a:lnTo>
                  <a:cubicBezTo>
                    <a:pt x="2921000" y="915078"/>
                    <a:pt x="2896278" y="939800"/>
                    <a:pt x="2865783" y="939800"/>
                  </a:cubicBezTo>
                  <a:lnTo>
                    <a:pt x="55217" y="939800"/>
                  </a:lnTo>
                  <a:cubicBezTo>
                    <a:pt x="24722" y="939800"/>
                    <a:pt x="0" y="915078"/>
                    <a:pt x="0" y="884583"/>
                  </a:cubicBezTo>
                  <a:lnTo>
                    <a:pt x="0" y="55217"/>
                  </a:lnTo>
                  <a:cubicBezTo>
                    <a:pt x="0" y="24722"/>
                    <a:pt x="24722" y="0"/>
                    <a:pt x="55217" y="0"/>
                  </a:cubicBezTo>
                  <a:close/>
                </a:path>
              </a:pathLst>
            </a:custGeom>
            <a:solidFill>
              <a:srgbClr val="F28C2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921000" cy="92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VOICE-ENABLED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53125" y="7239000"/>
            <a:ext cx="2190750" cy="704850"/>
            <a:chOff x="0" y="0"/>
            <a:chExt cx="2921000" cy="939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1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921000">
                  <a:moveTo>
                    <a:pt x="55217" y="0"/>
                  </a:moveTo>
                  <a:lnTo>
                    <a:pt x="2865783" y="0"/>
                  </a:lnTo>
                  <a:cubicBezTo>
                    <a:pt x="2896278" y="0"/>
                    <a:pt x="2921000" y="24722"/>
                    <a:pt x="2921000" y="55217"/>
                  </a:cubicBezTo>
                  <a:lnTo>
                    <a:pt x="2921000" y="884583"/>
                  </a:lnTo>
                  <a:cubicBezTo>
                    <a:pt x="2921000" y="915078"/>
                    <a:pt x="2896278" y="939800"/>
                    <a:pt x="2865783" y="939800"/>
                  </a:cubicBezTo>
                  <a:lnTo>
                    <a:pt x="55217" y="939800"/>
                  </a:lnTo>
                  <a:cubicBezTo>
                    <a:pt x="24722" y="939800"/>
                    <a:pt x="0" y="915078"/>
                    <a:pt x="0" y="884583"/>
                  </a:cubicBezTo>
                  <a:lnTo>
                    <a:pt x="0" y="55217"/>
                  </a:lnTo>
                  <a:cubicBezTo>
                    <a:pt x="0" y="24722"/>
                    <a:pt x="24722" y="0"/>
                    <a:pt x="55217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2921000" cy="92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OOP DESIGN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23" id="23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OVERVIEW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8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1912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03 / USER EXPERIENCE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71600"/>
            <a:ext cx="6858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5"/>
              </a:lnSpc>
            </a:pPr>
            <a:r>
              <a:rPr lang="en-US" sz="57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terminal that</a:t>
            </a:r>
          </a:p>
          <a:p>
            <a:pPr algn="l">
              <a:lnSpc>
                <a:spcPts val="5415"/>
              </a:lnSpc>
            </a:pPr>
            <a:r>
              <a:rPr lang="en-US" sz="57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feels welcoming.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5375" y="5438775"/>
            <a:ext cx="5715000" cy="51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150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))))  ))))  )))  ))  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239000" y="1428750"/>
            <a:ext cx="9906000" cy="6381750"/>
            <a:chOff x="0" y="0"/>
            <a:chExt cx="13208000" cy="850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08000" cy="8509000"/>
            </a:xfrm>
            <a:custGeom>
              <a:avLst/>
              <a:gdLst/>
              <a:ahLst/>
              <a:cxnLst/>
              <a:rect r="r" b="b" t="t" l="l"/>
              <a:pathLst>
                <a:path h="85090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8509000"/>
                  </a:lnTo>
                  <a:lnTo>
                    <a:pt x="0" y="8509000"/>
                  </a:lnTo>
                  <a:close/>
                </a:path>
              </a:pathLst>
            </a:custGeom>
            <a:solidFill>
              <a:srgbClr val="24201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208000" cy="854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39000" y="1428750"/>
            <a:ext cx="9906000" cy="514350"/>
            <a:chOff x="0" y="0"/>
            <a:chExt cx="13208000" cy="68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08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FFF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208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10500" y="1971675"/>
            <a:ext cx="8096250" cy="273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77D970"/>
                </a:solidFill>
                <a:latin typeface="Roboto Mono"/>
                <a:ea typeface="Roboto Mono"/>
                <a:cs typeface="Roboto Mono"/>
                <a:sym typeface="Roboto Mono"/>
              </a:rPr>
              <a:t>╔══ CYBERBOT ══╗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77D970"/>
                </a:solidFill>
                <a:latin typeface="Roboto Mono"/>
                <a:ea typeface="Roboto Mono"/>
                <a:cs typeface="Roboto Mono"/>
                <a:sym typeface="Roboto Mono"/>
              </a:rPr>
              <a:t>[voice] Welcome — let's stay secure.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77D970"/>
                </a:solidFill>
                <a:latin typeface="Roboto Mono"/>
                <a:ea typeface="Roboto Mono"/>
                <a:cs typeface="Roboto Mono"/>
                <a:sym typeface="Roboto Mono"/>
              </a:rPr>
              <a:t>&gt; help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77D970"/>
                </a:solidFill>
                <a:latin typeface="Roboto Mono"/>
                <a:ea typeface="Roboto Mono"/>
                <a:cs typeface="Roboto Mono"/>
                <a:sym typeface="Roboto Mono"/>
              </a:rPr>
              <a:t>  phishing   passwords   wifi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77D970"/>
                </a:solidFill>
                <a:latin typeface="Roboto Mono"/>
                <a:ea typeface="Roboto Mono"/>
                <a:cs typeface="Roboto Mono"/>
                <a:sym typeface="Roboto Mono"/>
              </a:rPr>
              <a:t>  updates    malware     backup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77D970"/>
                </a:solidFill>
                <a:latin typeface="Roboto Mono"/>
                <a:ea typeface="Roboto Mono"/>
                <a:cs typeface="Roboto Mono"/>
                <a:sym typeface="Roboto Mono"/>
              </a:rPr>
              <a:t>&gt; _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0500" y="6981825"/>
            <a:ext cx="809625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77D970"/>
                </a:solidFill>
                <a:latin typeface="DM Sans Bold"/>
                <a:ea typeface="DM Sans Bold"/>
                <a:cs typeface="DM Sans Bold"/>
                <a:sym typeface="DM Sans Bold"/>
              </a:rPr>
              <a:t>Guided prompts  ·  Dynamic help  ·  Asynchronous greeting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4" id="14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INTERACTION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1912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04 / HYBRID AI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62075"/>
            <a:ext cx="133350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Local first. AI when needed.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238500"/>
            <a:ext cx="2857500" cy="1714500"/>
            <a:chOff x="0" y="0"/>
            <a:chExt cx="3810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2243667"/>
                  </a:lnTo>
                  <a:cubicBezTo>
                    <a:pt x="3810000" y="2254894"/>
                    <a:pt x="3805540" y="2265662"/>
                    <a:pt x="3797601" y="2273601"/>
                  </a:cubicBezTo>
                  <a:cubicBezTo>
                    <a:pt x="3789662" y="2281540"/>
                    <a:pt x="3778894" y="2286000"/>
                    <a:pt x="3767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  USER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QUESTION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810000" y="4095750"/>
            <a:ext cx="857250" cy="0"/>
          </a:xfrm>
          <a:prstGeom prst="line">
            <a:avLst/>
          </a:prstGeom>
          <a:ln cap="rnd" w="381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762500" y="3238500"/>
            <a:ext cx="2857500" cy="1714500"/>
            <a:chOff x="0" y="0"/>
            <a:chExt cx="3810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2243667"/>
                  </a:lnTo>
                  <a:cubicBezTo>
                    <a:pt x="3810000" y="2254894"/>
                    <a:pt x="3805540" y="2265662"/>
                    <a:pt x="3797601" y="2273601"/>
                  </a:cubicBezTo>
                  <a:cubicBezTo>
                    <a:pt x="3789662" y="2281540"/>
                    <a:pt x="3778894" y="2286000"/>
                    <a:pt x="3767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 LOCAL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KNOWLEDGE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715250" y="4095750"/>
            <a:ext cx="857250" cy="0"/>
          </a:xfrm>
          <a:prstGeom prst="line">
            <a:avLst/>
          </a:prstGeom>
          <a:ln cap="rnd" w="381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667750" y="3238500"/>
            <a:ext cx="2857500" cy="1714500"/>
            <a:chOff x="0" y="0"/>
            <a:chExt cx="38100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2243667"/>
                  </a:lnTo>
                  <a:cubicBezTo>
                    <a:pt x="3810000" y="2254894"/>
                    <a:pt x="3805540" y="2265662"/>
                    <a:pt x="3797601" y="2273601"/>
                  </a:cubicBezTo>
                  <a:cubicBezTo>
                    <a:pt x="3789662" y="2281540"/>
                    <a:pt x="3778894" y="2286000"/>
                    <a:pt x="3767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28C2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 AI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FALLBACK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620500" y="4095750"/>
            <a:ext cx="857250" cy="0"/>
          </a:xfrm>
          <a:prstGeom prst="line">
            <a:avLst/>
          </a:prstGeom>
          <a:ln cap="rnd" w="381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2573000" y="3238500"/>
            <a:ext cx="2857500" cy="1714500"/>
            <a:chOff x="0" y="0"/>
            <a:chExt cx="3810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2243667"/>
                  </a:lnTo>
                  <a:cubicBezTo>
                    <a:pt x="3810000" y="2254894"/>
                    <a:pt x="3805540" y="2265662"/>
                    <a:pt x="3797601" y="2273601"/>
                  </a:cubicBezTo>
                  <a:cubicBezTo>
                    <a:pt x="3789662" y="2281540"/>
                    <a:pt x="3778894" y="2286000"/>
                    <a:pt x="3767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 SAFE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RESPONSE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7250" y="7496175"/>
            <a:ext cx="160020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1616"/>
                </a:solidFill>
                <a:latin typeface="DM Sans"/>
                <a:ea typeface="DM Sans"/>
                <a:cs typeface="DM Sans"/>
                <a:sym typeface="DM Sans"/>
              </a:rPr>
              <a:t>Fast, varied local answers handle common topics. Niche questions fall back to Gemini 2.5 Flash; errors degrade gracefully, and approved responses can enrich the local knowledge base.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21" id="21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HYBRID INTELLIGENCE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667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05 / TECHNOLOGY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71600"/>
            <a:ext cx="12382500" cy="70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Built with proven tools.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143250"/>
            <a:ext cx="4953000" cy="1809750"/>
            <a:chOff x="0" y="0"/>
            <a:chExt cx="6604000" cy="241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1000" y="511175"/>
              <a:ext cx="609600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3"/>
                </a:lnSpc>
              </a:pPr>
              <a:r>
                <a:rPr lang="en-US" sz="26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JAVA 17+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81000" y="1295400"/>
              <a:ext cx="609600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PLATFORM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1750" y="3143250"/>
            <a:ext cx="4953000" cy="1809750"/>
            <a:chOff x="0" y="0"/>
            <a:chExt cx="6604000" cy="241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511175"/>
              <a:ext cx="609600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3"/>
                </a:lnSpc>
              </a:pPr>
              <a:r>
                <a:rPr lang="en-US" sz="26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JANSI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81000" y="1295400"/>
              <a:ext cx="609600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TERMINAL COLOUR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06250" y="3143250"/>
            <a:ext cx="4953000" cy="1809750"/>
            <a:chOff x="0" y="0"/>
            <a:chExt cx="6604000" cy="241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511175"/>
              <a:ext cx="609600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3"/>
                </a:lnSpc>
              </a:pPr>
              <a:r>
                <a:rPr lang="en-US" sz="26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FREETTS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1000" y="1295400"/>
              <a:ext cx="609600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VOICE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250" y="5524500"/>
            <a:ext cx="4953000" cy="1809750"/>
            <a:chOff x="0" y="0"/>
            <a:chExt cx="6604000" cy="2413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60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511175"/>
              <a:ext cx="609600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3"/>
                </a:lnSpc>
              </a:pPr>
              <a:r>
                <a:rPr lang="en-US" sz="26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GEN AI SDK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81000" y="1295400"/>
              <a:ext cx="609600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GEMINI 2.5 FLASH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81750" y="5524500"/>
            <a:ext cx="4953000" cy="1809750"/>
            <a:chOff x="0" y="0"/>
            <a:chExt cx="6604000" cy="2413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60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81000" y="511175"/>
              <a:ext cx="609600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3"/>
                </a:lnSpc>
              </a:pPr>
              <a:r>
                <a:rPr lang="en-US" sz="26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MAVEN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81000" y="1295400"/>
              <a:ext cx="609600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BUILD + RUN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06250" y="5524500"/>
            <a:ext cx="4953000" cy="1809750"/>
            <a:chOff x="0" y="0"/>
            <a:chExt cx="6604000" cy="2413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60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81000" y="511175"/>
              <a:ext cx="609600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3"/>
                </a:lnSpc>
              </a:pPr>
              <a:r>
                <a:rPr lang="en-US" sz="26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JUNIT 5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81000" y="1295400"/>
              <a:ext cx="609600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6161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TESTING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41" id="41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STACK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667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06 / OOP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04925"/>
            <a:ext cx="1428750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49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Separated concerns. Clear ownership.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2828925"/>
            <a:ext cx="1714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ENTRY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400550"/>
            <a:ext cx="2095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CONVERSATION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5972175"/>
            <a:ext cx="2095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KNOWLEDGE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7543800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INTERFACE + SERVICES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14750" y="2667000"/>
            <a:ext cx="4381500" cy="952500"/>
            <a:chOff x="0" y="0"/>
            <a:chExt cx="5842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842000">
                  <a:moveTo>
                    <a:pt x="27609" y="0"/>
                  </a:moveTo>
                  <a:lnTo>
                    <a:pt x="5814391" y="0"/>
                  </a:lnTo>
                  <a:cubicBezTo>
                    <a:pt x="5821714" y="0"/>
                    <a:pt x="5828736" y="2909"/>
                    <a:pt x="5833914" y="8086"/>
                  </a:cubicBezTo>
                  <a:cubicBezTo>
                    <a:pt x="5839091" y="13264"/>
                    <a:pt x="5842000" y="20286"/>
                    <a:pt x="5842000" y="27609"/>
                  </a:cubicBezTo>
                  <a:lnTo>
                    <a:pt x="5842000" y="1242391"/>
                  </a:lnTo>
                  <a:cubicBezTo>
                    <a:pt x="5842000" y="1249714"/>
                    <a:pt x="5839091" y="1256736"/>
                    <a:pt x="5833914" y="1261914"/>
                  </a:cubicBezTo>
                  <a:cubicBezTo>
                    <a:pt x="5828736" y="1267091"/>
                    <a:pt x="5821714" y="1270000"/>
                    <a:pt x="5814391" y="1270000"/>
                  </a:cubicBezTo>
                  <a:lnTo>
                    <a:pt x="27609" y="1270000"/>
                  </a:lnTo>
                  <a:cubicBezTo>
                    <a:pt x="20286" y="1270000"/>
                    <a:pt x="13264" y="1267091"/>
                    <a:pt x="8086" y="1261914"/>
                  </a:cubicBezTo>
                  <a:cubicBezTo>
                    <a:pt x="2909" y="1256736"/>
                    <a:pt x="0" y="1249714"/>
                    <a:pt x="0" y="1242391"/>
                  </a:cubicBezTo>
                  <a:lnTo>
                    <a:pt x="0" y="27609"/>
                  </a:lnTo>
                  <a:cubicBezTo>
                    <a:pt x="0" y="20286"/>
                    <a:pt x="2909" y="13264"/>
                    <a:pt x="8086" y="8086"/>
                  </a:cubicBezTo>
                  <a:cubicBezTo>
                    <a:pt x="13264" y="2909"/>
                    <a:pt x="20286" y="0"/>
                    <a:pt x="27609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5842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14750" y="4238625"/>
            <a:ext cx="2952750" cy="952500"/>
            <a:chOff x="0" y="0"/>
            <a:chExt cx="39370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3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937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937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Chatbot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34200" y="4238625"/>
            <a:ext cx="2952750" cy="952500"/>
            <a:chOff x="0" y="0"/>
            <a:chExt cx="3937000" cy="127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937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937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53650" y="4238625"/>
            <a:ext cx="2952750" cy="952500"/>
            <a:chOff x="0" y="0"/>
            <a:chExt cx="3937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937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3937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ResponseEngine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3100" y="4238625"/>
            <a:ext cx="2952750" cy="952500"/>
            <a:chOff x="0" y="0"/>
            <a:chExt cx="3937000" cy="127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3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937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937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TheBox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14750" y="5810250"/>
            <a:ext cx="3714750" cy="952500"/>
            <a:chOff x="0" y="0"/>
            <a:chExt cx="4953000" cy="127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5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953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237436"/>
                  </a:lnTo>
                  <a:cubicBezTo>
                    <a:pt x="4953000" y="1246072"/>
                    <a:pt x="4949569" y="1254355"/>
                    <a:pt x="4943462" y="1260462"/>
                  </a:cubicBezTo>
                  <a:cubicBezTo>
                    <a:pt x="4937355" y="1266569"/>
                    <a:pt x="4929072" y="1270000"/>
                    <a:pt x="4920436" y="1270000"/>
                  </a:cubicBezTo>
                  <a:lnTo>
                    <a:pt x="32564" y="1270000"/>
                  </a:lnTo>
                  <a:cubicBezTo>
                    <a:pt x="23928" y="1270000"/>
                    <a:pt x="15645" y="1266569"/>
                    <a:pt x="9538" y="1260462"/>
                  </a:cubicBezTo>
                  <a:cubicBezTo>
                    <a:pt x="3431" y="1254355"/>
                    <a:pt x="0" y="1246072"/>
                    <a:pt x="0" y="1237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495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KnowledgeBase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96200" y="5810250"/>
            <a:ext cx="3714750" cy="952500"/>
            <a:chOff x="0" y="0"/>
            <a:chExt cx="4953000" cy="127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953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237436"/>
                  </a:lnTo>
                  <a:cubicBezTo>
                    <a:pt x="4953000" y="1246072"/>
                    <a:pt x="4949569" y="1254355"/>
                    <a:pt x="4943462" y="1260462"/>
                  </a:cubicBezTo>
                  <a:cubicBezTo>
                    <a:pt x="4937355" y="1266569"/>
                    <a:pt x="4929072" y="1270000"/>
                    <a:pt x="4920436" y="1270000"/>
                  </a:cubicBezTo>
                  <a:lnTo>
                    <a:pt x="32564" y="1270000"/>
                  </a:lnTo>
                  <a:cubicBezTo>
                    <a:pt x="23928" y="1270000"/>
                    <a:pt x="15645" y="1266569"/>
                    <a:pt x="9538" y="1260462"/>
                  </a:cubicBezTo>
                  <a:cubicBezTo>
                    <a:pt x="3431" y="1254355"/>
                    <a:pt x="0" y="1246072"/>
                    <a:pt x="0" y="1237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F28C2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495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AskAi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14750" y="7381875"/>
            <a:ext cx="3714750" cy="952500"/>
            <a:chOff x="0" y="0"/>
            <a:chExt cx="4953000" cy="127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5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953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237436"/>
                  </a:lnTo>
                  <a:cubicBezTo>
                    <a:pt x="4953000" y="1246072"/>
                    <a:pt x="4949569" y="1254355"/>
                    <a:pt x="4943462" y="1260462"/>
                  </a:cubicBezTo>
                  <a:cubicBezTo>
                    <a:pt x="4937355" y="1266569"/>
                    <a:pt x="4929072" y="1270000"/>
                    <a:pt x="4920436" y="1270000"/>
                  </a:cubicBezTo>
                  <a:lnTo>
                    <a:pt x="32564" y="1270000"/>
                  </a:lnTo>
                  <a:cubicBezTo>
                    <a:pt x="23928" y="1270000"/>
                    <a:pt x="15645" y="1266569"/>
                    <a:pt x="9538" y="1260462"/>
                  </a:cubicBezTo>
                  <a:cubicBezTo>
                    <a:pt x="3431" y="1254355"/>
                    <a:pt x="0" y="1246072"/>
                    <a:pt x="0" y="1237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495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ConsoleUI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96200" y="7381875"/>
            <a:ext cx="3714750" cy="952500"/>
            <a:chOff x="0" y="0"/>
            <a:chExt cx="4953000" cy="127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5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953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237436"/>
                  </a:lnTo>
                  <a:cubicBezTo>
                    <a:pt x="4953000" y="1246072"/>
                    <a:pt x="4949569" y="1254355"/>
                    <a:pt x="4943462" y="1260462"/>
                  </a:cubicBezTo>
                  <a:cubicBezTo>
                    <a:pt x="4937355" y="1266569"/>
                    <a:pt x="4929072" y="1270000"/>
                    <a:pt x="4920436" y="1270000"/>
                  </a:cubicBezTo>
                  <a:lnTo>
                    <a:pt x="32564" y="1270000"/>
                  </a:lnTo>
                  <a:cubicBezTo>
                    <a:pt x="23928" y="1270000"/>
                    <a:pt x="15645" y="1266569"/>
                    <a:pt x="9538" y="1260462"/>
                  </a:cubicBezTo>
                  <a:cubicBezTo>
                    <a:pt x="3431" y="1254355"/>
                    <a:pt x="0" y="1246072"/>
                    <a:pt x="0" y="1237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495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HelpCentre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677650" y="7381875"/>
            <a:ext cx="3714750" cy="952500"/>
            <a:chOff x="0" y="0"/>
            <a:chExt cx="4953000" cy="127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5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953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237436"/>
                  </a:lnTo>
                  <a:cubicBezTo>
                    <a:pt x="4953000" y="1246072"/>
                    <a:pt x="4949569" y="1254355"/>
                    <a:pt x="4943462" y="1260462"/>
                  </a:cubicBezTo>
                  <a:cubicBezTo>
                    <a:pt x="4937355" y="1266569"/>
                    <a:pt x="4929072" y="1270000"/>
                    <a:pt x="4920436" y="1270000"/>
                  </a:cubicBezTo>
                  <a:lnTo>
                    <a:pt x="32564" y="1270000"/>
                  </a:lnTo>
                  <a:cubicBezTo>
                    <a:pt x="23928" y="1270000"/>
                    <a:pt x="15645" y="1266569"/>
                    <a:pt x="9538" y="1260462"/>
                  </a:cubicBezTo>
                  <a:cubicBezTo>
                    <a:pt x="3431" y="1254355"/>
                    <a:pt x="0" y="1246072"/>
                    <a:pt x="0" y="1237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495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VoiceGreeter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39" id="39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0" id="40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ARCHITECTURE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8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1912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07 / CORE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62075"/>
            <a:ext cx="104775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Personality on the surface.</a:t>
            </a:r>
          </a:p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Resilience underneath.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4476750"/>
            <a:ext cx="4953000" cy="1476375"/>
            <a:chOff x="0" y="0"/>
            <a:chExt cx="6604000" cy="1968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55600" y="361950"/>
              <a:ext cx="6096000" cy="89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ASCII + ANSI</a:t>
              </a:r>
            </a:p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Distinct terminal identity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81750" y="4476750"/>
            <a:ext cx="4953000" cy="1476375"/>
            <a:chOff x="0" y="0"/>
            <a:chExt cx="6604000" cy="1968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04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55600" y="361950"/>
              <a:ext cx="6096000" cy="89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VOICE GREETING</a:t>
              </a:r>
            </a:p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Approachable startup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06250" y="4476750"/>
            <a:ext cx="4953000" cy="1476375"/>
            <a:chOff x="0" y="0"/>
            <a:chExt cx="6604000" cy="19685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604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5600" y="361950"/>
              <a:ext cx="6096000" cy="89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LOCAL KNOWLEDGE</a:t>
              </a:r>
            </a:p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Varied security advice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" y="6477000"/>
            <a:ext cx="4953000" cy="1476375"/>
            <a:chOff x="0" y="0"/>
            <a:chExt cx="6604000" cy="1968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04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361950"/>
              <a:ext cx="6096000" cy="89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HELP</a:t>
              </a:r>
            </a:p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Guidance on demand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381750" y="6477000"/>
            <a:ext cx="4953000" cy="1476375"/>
            <a:chOff x="0" y="0"/>
            <a:chExt cx="6604000" cy="1968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5600" y="361950"/>
              <a:ext cx="6096000" cy="89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FFFDF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 FALLBACK</a:t>
              </a:r>
            </a:p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FFFDF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Extended answers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06250" y="6477000"/>
            <a:ext cx="4953000" cy="1476375"/>
            <a:chOff x="0" y="0"/>
            <a:chExt cx="6604000" cy="19685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04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5600" y="361950"/>
              <a:ext cx="6096000" cy="89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SAFE COMMANDS</a:t>
              </a:r>
            </a:p>
            <a:p>
              <a:pPr algn="l">
                <a:lnSpc>
                  <a:spcPts val="2625"/>
                </a:lnSpc>
              </a:pPr>
              <a:r>
                <a:rPr lang="en-US" sz="2100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exit · quit · q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35" id="35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FEATURES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7620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08 / SETUP + REQUIREMENTS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14450"/>
            <a:ext cx="133350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clone to conversation.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857500"/>
            <a:ext cx="8572500" cy="914400"/>
            <a:chOff x="0" y="0"/>
            <a:chExt cx="114300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14111" y="0"/>
                  </a:moveTo>
                  <a:lnTo>
                    <a:pt x="11415889" y="0"/>
                  </a:lnTo>
                  <a:cubicBezTo>
                    <a:pt x="11419632" y="0"/>
                    <a:pt x="11423221" y="1487"/>
                    <a:pt x="11425867" y="4133"/>
                  </a:cubicBezTo>
                  <a:cubicBezTo>
                    <a:pt x="11428513" y="6779"/>
                    <a:pt x="11430000" y="10369"/>
                    <a:pt x="11430000" y="14111"/>
                  </a:cubicBezTo>
                  <a:lnTo>
                    <a:pt x="11430000" y="1205089"/>
                  </a:lnTo>
                  <a:cubicBezTo>
                    <a:pt x="11430000" y="1208831"/>
                    <a:pt x="11428513" y="1212421"/>
                    <a:pt x="11425867" y="1215067"/>
                  </a:cubicBezTo>
                  <a:cubicBezTo>
                    <a:pt x="11423221" y="1217713"/>
                    <a:pt x="11419632" y="1219200"/>
                    <a:pt x="11415889" y="1219200"/>
                  </a:cubicBezTo>
                  <a:lnTo>
                    <a:pt x="14111" y="1219200"/>
                  </a:lnTo>
                  <a:cubicBezTo>
                    <a:pt x="10369" y="1219200"/>
                    <a:pt x="6779" y="1217713"/>
                    <a:pt x="4133" y="1215067"/>
                  </a:cubicBezTo>
                  <a:cubicBezTo>
                    <a:pt x="1487" y="1212421"/>
                    <a:pt x="0" y="1208831"/>
                    <a:pt x="0" y="1205089"/>
                  </a:cubicBezTo>
                  <a:lnTo>
                    <a:pt x="0" y="14111"/>
                  </a:lnTo>
                  <a:cubicBezTo>
                    <a:pt x="0" y="10369"/>
                    <a:pt x="1487" y="6779"/>
                    <a:pt x="4133" y="4133"/>
                  </a:cubicBezTo>
                  <a:cubicBezTo>
                    <a:pt x="6779" y="1487"/>
                    <a:pt x="10369" y="0"/>
                    <a:pt x="14111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  CLONE REPO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4238625"/>
            <a:ext cx="8572500" cy="914400"/>
            <a:chOff x="0" y="0"/>
            <a:chExt cx="114300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14111" y="0"/>
                  </a:moveTo>
                  <a:lnTo>
                    <a:pt x="11415889" y="0"/>
                  </a:lnTo>
                  <a:cubicBezTo>
                    <a:pt x="11419632" y="0"/>
                    <a:pt x="11423221" y="1487"/>
                    <a:pt x="11425867" y="4133"/>
                  </a:cubicBezTo>
                  <a:cubicBezTo>
                    <a:pt x="11428513" y="6779"/>
                    <a:pt x="11430000" y="10369"/>
                    <a:pt x="11430000" y="14111"/>
                  </a:cubicBezTo>
                  <a:lnTo>
                    <a:pt x="11430000" y="1205089"/>
                  </a:lnTo>
                  <a:cubicBezTo>
                    <a:pt x="11430000" y="1208831"/>
                    <a:pt x="11428513" y="1212421"/>
                    <a:pt x="11425867" y="1215067"/>
                  </a:cubicBezTo>
                  <a:cubicBezTo>
                    <a:pt x="11423221" y="1217713"/>
                    <a:pt x="11419632" y="1219200"/>
                    <a:pt x="11415889" y="1219200"/>
                  </a:cubicBezTo>
                  <a:lnTo>
                    <a:pt x="14111" y="1219200"/>
                  </a:lnTo>
                  <a:cubicBezTo>
                    <a:pt x="10369" y="1219200"/>
                    <a:pt x="6779" y="1217713"/>
                    <a:pt x="4133" y="1215067"/>
                  </a:cubicBezTo>
                  <a:cubicBezTo>
                    <a:pt x="1487" y="1212421"/>
                    <a:pt x="0" y="1208831"/>
                    <a:pt x="0" y="1205089"/>
                  </a:cubicBezTo>
                  <a:lnTo>
                    <a:pt x="0" y="14111"/>
                  </a:lnTo>
                  <a:cubicBezTo>
                    <a:pt x="0" y="10369"/>
                    <a:pt x="1487" y="6779"/>
                    <a:pt x="4133" y="4133"/>
                  </a:cubicBezTo>
                  <a:cubicBezTo>
                    <a:pt x="6779" y="1487"/>
                    <a:pt x="10369" y="0"/>
                    <a:pt x="14111" y="0"/>
                  </a:cubicBezTo>
                  <a:close/>
                </a:path>
              </a:pathLst>
            </a:custGeom>
            <a:solidFill>
              <a:srgbClr val="F28C2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  SET API KEY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5619750"/>
            <a:ext cx="8572500" cy="914400"/>
            <a:chOff x="0" y="0"/>
            <a:chExt cx="114300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14111" y="0"/>
                  </a:moveTo>
                  <a:lnTo>
                    <a:pt x="11415889" y="0"/>
                  </a:lnTo>
                  <a:cubicBezTo>
                    <a:pt x="11419632" y="0"/>
                    <a:pt x="11423221" y="1487"/>
                    <a:pt x="11425867" y="4133"/>
                  </a:cubicBezTo>
                  <a:cubicBezTo>
                    <a:pt x="11428513" y="6779"/>
                    <a:pt x="11430000" y="10369"/>
                    <a:pt x="11430000" y="14111"/>
                  </a:cubicBezTo>
                  <a:lnTo>
                    <a:pt x="11430000" y="1205089"/>
                  </a:lnTo>
                  <a:cubicBezTo>
                    <a:pt x="11430000" y="1208831"/>
                    <a:pt x="11428513" y="1212421"/>
                    <a:pt x="11425867" y="1215067"/>
                  </a:cubicBezTo>
                  <a:cubicBezTo>
                    <a:pt x="11423221" y="1217713"/>
                    <a:pt x="11419632" y="1219200"/>
                    <a:pt x="11415889" y="1219200"/>
                  </a:cubicBezTo>
                  <a:lnTo>
                    <a:pt x="14111" y="1219200"/>
                  </a:lnTo>
                  <a:cubicBezTo>
                    <a:pt x="10369" y="1219200"/>
                    <a:pt x="6779" y="1217713"/>
                    <a:pt x="4133" y="1215067"/>
                  </a:cubicBezTo>
                  <a:cubicBezTo>
                    <a:pt x="1487" y="1212421"/>
                    <a:pt x="0" y="1208831"/>
                    <a:pt x="0" y="1205089"/>
                  </a:cubicBezTo>
                  <a:lnTo>
                    <a:pt x="0" y="14111"/>
                  </a:lnTo>
                  <a:cubicBezTo>
                    <a:pt x="0" y="10369"/>
                    <a:pt x="1487" y="6779"/>
                    <a:pt x="4133" y="4133"/>
                  </a:cubicBezTo>
                  <a:cubicBezTo>
                    <a:pt x="6779" y="1487"/>
                    <a:pt x="10369" y="0"/>
                    <a:pt x="14111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  MVN BUILD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7000875"/>
            <a:ext cx="8572500" cy="914400"/>
            <a:chOff x="0" y="0"/>
            <a:chExt cx="114300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14111" y="0"/>
                  </a:moveTo>
                  <a:lnTo>
                    <a:pt x="11415889" y="0"/>
                  </a:lnTo>
                  <a:cubicBezTo>
                    <a:pt x="11419632" y="0"/>
                    <a:pt x="11423221" y="1487"/>
                    <a:pt x="11425867" y="4133"/>
                  </a:cubicBezTo>
                  <a:cubicBezTo>
                    <a:pt x="11428513" y="6779"/>
                    <a:pt x="11430000" y="10369"/>
                    <a:pt x="11430000" y="14111"/>
                  </a:cubicBezTo>
                  <a:lnTo>
                    <a:pt x="11430000" y="1205089"/>
                  </a:lnTo>
                  <a:cubicBezTo>
                    <a:pt x="11430000" y="1208831"/>
                    <a:pt x="11428513" y="1212421"/>
                    <a:pt x="11425867" y="1215067"/>
                  </a:cubicBezTo>
                  <a:cubicBezTo>
                    <a:pt x="11423221" y="1217713"/>
                    <a:pt x="11419632" y="1219200"/>
                    <a:pt x="11415889" y="1219200"/>
                  </a:cubicBezTo>
                  <a:lnTo>
                    <a:pt x="14111" y="1219200"/>
                  </a:lnTo>
                  <a:cubicBezTo>
                    <a:pt x="10369" y="1219200"/>
                    <a:pt x="6779" y="1217713"/>
                    <a:pt x="4133" y="1215067"/>
                  </a:cubicBezTo>
                  <a:cubicBezTo>
                    <a:pt x="1487" y="1212421"/>
                    <a:pt x="0" y="1208831"/>
                    <a:pt x="0" y="1205089"/>
                  </a:cubicBezTo>
                  <a:lnTo>
                    <a:pt x="0" y="14111"/>
                  </a:lnTo>
                  <a:cubicBezTo>
                    <a:pt x="0" y="10369"/>
                    <a:pt x="1487" y="6779"/>
                    <a:pt x="4133" y="4133"/>
                  </a:cubicBezTo>
                  <a:cubicBezTo>
                    <a:pt x="6779" y="1487"/>
                    <a:pt x="10369" y="0"/>
                    <a:pt x="14111" y="0"/>
                  </a:cubicBezTo>
                  <a:close/>
                </a:path>
              </a:pathLst>
            </a:custGeom>
            <a:solidFill>
              <a:srgbClr val="FFFDF8"/>
            </a:solidFill>
            <a:ln w="2857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  RUN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49000" y="2238375"/>
            <a:ext cx="6286500" cy="2857500"/>
            <a:chOff x="0" y="0"/>
            <a:chExt cx="8382000" cy="3810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382000" cy="3810000"/>
              <a:chOff x="0" y="0"/>
              <a:chExt cx="8382000" cy="381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382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8382000">
                    <a:moveTo>
                      <a:pt x="0" y="0"/>
                    </a:moveTo>
                    <a:lnTo>
                      <a:pt x="8382000" y="0"/>
                    </a:lnTo>
                    <a:lnTo>
                      <a:pt x="8382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8382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35000" y="377825"/>
              <a:ext cx="6350000" cy="2140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2"/>
                </a:lnSpc>
              </a:pPr>
              <a:r>
                <a:rPr lang="en-US" sz="21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REQUIRES</a:t>
              </a:r>
            </a:p>
            <a:p>
              <a:pPr algn="l">
                <a:lnSpc>
                  <a:spcPts val="3262"/>
                </a:lnSpc>
              </a:pPr>
              <a:r>
                <a:rPr lang="en-US" sz="21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Java Development Kit 17+</a:t>
              </a:r>
            </a:p>
            <a:p>
              <a:pPr algn="l">
                <a:lnSpc>
                  <a:spcPts val="3262"/>
                </a:lnSpc>
              </a:pPr>
              <a:r>
                <a:rPr lang="en-US" sz="21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Apache Maven 3.6+</a:t>
              </a:r>
            </a:p>
            <a:p>
              <a:pPr algn="l">
                <a:lnSpc>
                  <a:spcPts val="3262"/>
                </a:lnSpc>
              </a:pPr>
              <a:r>
                <a:rPr lang="en-US" sz="217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Optional Gemini API key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49000" y="5429250"/>
            <a:ext cx="6286500" cy="2238375"/>
            <a:chOff x="0" y="0"/>
            <a:chExt cx="8382000" cy="2984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382000" cy="2984500"/>
              <a:chOff x="0" y="0"/>
              <a:chExt cx="8382000" cy="2984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382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8382000">
                    <a:moveTo>
                      <a:pt x="0" y="0"/>
                    </a:moveTo>
                    <a:lnTo>
                      <a:pt x="8382000" y="0"/>
                    </a:lnTo>
                    <a:lnTo>
                      <a:pt x="8382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382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35000" y="323850"/>
              <a:ext cx="7112000" cy="1478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SUPPORTED</a:t>
              </a:r>
            </a:p>
            <a:p>
              <a:pPr algn="l">
                <a:lnSpc>
                  <a:spcPts val="3037"/>
                </a:lnSpc>
              </a:pPr>
              <a:r>
                <a:rPr lang="en-US" sz="202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Pop!_OS · Ubuntu/Debian · macOS</a:t>
              </a:r>
            </a:p>
            <a:p>
              <a:pPr algn="l">
                <a:lnSpc>
                  <a:spcPts val="3037"/>
                </a:lnSpc>
              </a:pPr>
              <a:r>
                <a:rPr lang="en-US" sz="2025" b="true">
                  <a:solidFill>
                    <a:srgbClr val="16161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Modern Windows terminals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27" id="27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SETUP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667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09 / RUN +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71600"/>
            <a:ext cx="8096250" cy="12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52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command to run.</a:t>
            </a:r>
          </a:p>
          <a:p>
            <a:pPr algn="l">
              <a:lnSpc>
                <a:spcPts val="4987"/>
              </a:lnSpc>
            </a:pPr>
            <a:r>
              <a:rPr lang="en-US" sz="52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suite to trust.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714750"/>
            <a:ext cx="8096250" cy="4000500"/>
            <a:chOff x="0" y="0"/>
            <a:chExt cx="10795000" cy="533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795000" cy="5334000"/>
              <a:chOff x="0" y="0"/>
              <a:chExt cx="10795000" cy="533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795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795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10795000" cy="609600"/>
              <a:chOff x="0" y="0"/>
              <a:chExt cx="10795000" cy="609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7950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7950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1000" y="733425"/>
              <a:ext cx="9652000" cy="1657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$ mvn compile exec:java \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-Dexec.mainClass=Main \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-Djansi.passthrough=true \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--enable-native-access=ALL-UNNAMED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06000" y="2428875"/>
            <a:ext cx="6953250" cy="5286375"/>
            <a:chOff x="0" y="0"/>
            <a:chExt cx="9271000" cy="7048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271000" cy="7048500"/>
              <a:chOff x="0" y="0"/>
              <a:chExt cx="9271000" cy="7048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271000" cy="7048500"/>
              </a:xfrm>
              <a:custGeom>
                <a:avLst/>
                <a:gdLst/>
                <a:ahLst/>
                <a:cxnLst/>
                <a:rect r="r" b="b" t="t" l="l"/>
                <a:pathLst>
                  <a:path h="70485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7048500"/>
                    </a:lnTo>
                    <a:lnTo>
                      <a:pt x="0" y="70485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271000" cy="708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62000" y="733425"/>
              <a:ext cx="7747000" cy="291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TEST REPORT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────────────────────────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Chatbot behaviour      PASS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Knowledge base         PASS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Input validation       PASS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────────────────────────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BUILD SUCCESS   0 failures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8" id="18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VERIFICATION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6667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10 / KNOWN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419225"/>
            <a:ext cx="85725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5"/>
              </a:lnSpc>
            </a:pPr>
            <a:r>
              <a:rPr lang="en-US" sz="57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Graceful degradation</a:t>
            </a:r>
          </a:p>
          <a:p>
            <a:pPr algn="l">
              <a:lnSpc>
                <a:spcPts val="5415"/>
              </a:lnSpc>
            </a:pPr>
            <a:r>
              <a:rPr lang="en-US" sz="57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 a feature.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4875" y="5867400"/>
            <a:ext cx="6858000" cy="69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2775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VOICE?  NO AI?</a:t>
            </a:r>
          </a:p>
          <a:p>
            <a:pPr algn="l">
              <a:lnSpc>
                <a:spcPts val="2636"/>
              </a:lnSpc>
            </a:pPr>
            <a:r>
              <a:rPr lang="en-US" sz="2775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CYBERBOT STILL WORKS.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61539" y="2190750"/>
            <a:ext cx="9239250" cy="5905500"/>
            <a:chOff x="0" y="0"/>
            <a:chExt cx="12319000" cy="7874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19000" cy="7874000"/>
              <a:chOff x="0" y="0"/>
              <a:chExt cx="12319000" cy="7874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319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123190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2319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2319000" cy="660400"/>
              <a:chOff x="0" y="0"/>
              <a:chExt cx="12319000" cy="660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319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123190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319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62000" y="733425"/>
              <a:ext cx="10160000" cy="3634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[WARN] FreeTTS may emit warnings on JDK 17+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→ voice falls back silently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[WARN] ANSI rendering varies by terminal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→ legacy Windows consoles may differ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 OK ] Core chat remains functional without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77D97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voice synthesis or AI fallback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4" id="14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LIMITS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71437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11 / DEFENSIVE TOPICS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04925"/>
            <a:ext cx="142875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5"/>
              </a:lnSpc>
            </a:pPr>
            <a:r>
              <a:rPr lang="en-US" sz="51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 the habits that reduce risk.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143250"/>
            <a:ext cx="7810500" cy="2143125"/>
            <a:chOff x="0" y="0"/>
            <a:chExt cx="10414000" cy="2857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414000" cy="2857500"/>
              <a:chOff x="0" y="0"/>
              <a:chExt cx="10414000" cy="2857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41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41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1000" y="384175"/>
              <a:ext cx="1270000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3000" b="true">
                  <a:solidFill>
                    <a:srgbClr val="FFFDF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87500" y="454025"/>
              <a:ext cx="7493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23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SPOT THE BAIT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87500" y="1149350"/>
              <a:ext cx="7493000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61616"/>
                  </a:solidFill>
                  <a:latin typeface="DM Sans"/>
                  <a:ea typeface="DM Sans"/>
                  <a:cs typeface="DM Sans"/>
                  <a:sym typeface="DM Sans"/>
                </a:rPr>
                <a:t>Phishing, social engineering and suspicious urgency.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39250" y="3143250"/>
            <a:ext cx="7810500" cy="2143125"/>
            <a:chOff x="0" y="0"/>
            <a:chExt cx="10414000" cy="2857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414000" cy="2857500"/>
              <a:chOff x="0" y="0"/>
              <a:chExt cx="10414000" cy="2857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41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41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1000" y="384175"/>
              <a:ext cx="1270000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3000" b="true">
                  <a:solidFill>
                    <a:srgbClr val="F28C2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87500" y="454025"/>
              <a:ext cx="7493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23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PROTECT ACCESS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87500" y="1149350"/>
              <a:ext cx="7493000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61616"/>
                  </a:solidFill>
                  <a:latin typeface="DM Sans"/>
                  <a:ea typeface="DM Sans"/>
                  <a:cs typeface="DM Sans"/>
                  <a:sym typeface="DM Sans"/>
                </a:rPr>
                <a:t>Passwords, credentials and two-factor authentication.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250" y="5905500"/>
            <a:ext cx="7810500" cy="2143125"/>
            <a:chOff x="0" y="0"/>
            <a:chExt cx="10414000" cy="2857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14000" cy="2857500"/>
              <a:chOff x="0" y="0"/>
              <a:chExt cx="10414000" cy="2857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1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41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84175"/>
              <a:ext cx="1270000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3000" b="true">
                  <a:solidFill>
                    <a:srgbClr val="F28C2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587500" y="454025"/>
              <a:ext cx="7493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23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SECURE THE PATH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587500" y="1149350"/>
              <a:ext cx="749300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61616"/>
                  </a:solidFill>
                  <a:latin typeface="DM Sans"/>
                  <a:ea typeface="DM Sans"/>
                  <a:cs typeface="DM Sans"/>
                  <a:sym typeface="DM Sans"/>
                </a:rPr>
                <a:t>Firewalls, VPN safety and software updates.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39250" y="5905500"/>
            <a:ext cx="7810500" cy="2143125"/>
            <a:chOff x="0" y="0"/>
            <a:chExt cx="10414000" cy="2857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414000" cy="2857500"/>
              <a:chOff x="0" y="0"/>
              <a:chExt cx="10414000" cy="2857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41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D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41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1000" y="384175"/>
              <a:ext cx="1270000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3000" b="true">
                  <a:solidFill>
                    <a:srgbClr val="F28C2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587500" y="454025"/>
              <a:ext cx="7493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2325" b="true">
                  <a:solidFill>
                    <a:srgbClr val="16161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RECOVER WELL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587500" y="1149350"/>
              <a:ext cx="749300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61616"/>
                  </a:solidFill>
                  <a:latin typeface="DM Sans"/>
                  <a:ea typeface="DM Sans"/>
                  <a:cs typeface="DM Sans"/>
                  <a:sym typeface="DM Sans"/>
                </a:rPr>
                <a:t>Malware, ransomware, public Wi-Fi and backups.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33" id="33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CURRICULUM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28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38175"/>
            <a:ext cx="5715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12 /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71600"/>
            <a:ext cx="1095375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5"/>
              </a:lnSpc>
            </a:pPr>
            <a:r>
              <a:rPr lang="en-US" sz="57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Secure learning,</a:t>
            </a:r>
          </a:p>
          <a:p>
            <a:pPr algn="l">
              <a:lnSpc>
                <a:spcPts val="5415"/>
              </a:lnSpc>
            </a:pPr>
            <a:r>
              <a:rPr lang="en-US" sz="570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conversation at a time.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4875" y="4543425"/>
            <a:ext cx="14287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ACCESSIBLE ADVICE  /  MAINTAINABLE OOP  /  RESILIENT FALLBACKS  /  TESTED BEHAVIOUR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7724775"/>
            <a:ext cx="6667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07" b="true">
                <a:solidFill>
                  <a:srgbClr val="16161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GPL-3.0  ·  OPEN COLLABORATION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53500" y="5905500"/>
            <a:ext cx="8382000" cy="2381250"/>
            <a:chOff x="0" y="0"/>
            <a:chExt cx="11176000" cy="3175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176000" cy="3175000"/>
              <a:chOff x="0" y="0"/>
              <a:chExt cx="11176000" cy="317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176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1176000">
                    <a:moveTo>
                      <a:pt x="0" y="0"/>
                    </a:moveTo>
                    <a:lnTo>
                      <a:pt x="11176000" y="0"/>
                    </a:lnTo>
                    <a:lnTo>
                      <a:pt x="11176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2420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1176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62000" y="847725"/>
              <a:ext cx="9144000" cy="1038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3150" b="true">
                  <a:solidFill>
                    <a:srgbClr val="77D97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Thank you for your time.</a:t>
              </a:r>
            </a:p>
            <a:p>
              <a:pPr algn="l">
                <a:lnSpc>
                  <a:spcPts val="2992"/>
                </a:lnSpc>
              </a:pPr>
              <a:r>
                <a:rPr lang="en-US" sz="3150" b="true">
                  <a:solidFill>
                    <a:srgbClr val="77D97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Ready to see CyberBot live?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2" id="12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LIVE DEMO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6250" y="0"/>
            <a:ext cx="6381750" cy="10287000"/>
            <a:chOff x="0" y="0"/>
            <a:chExt cx="8509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509000">
                  <a:moveTo>
                    <a:pt x="0" y="0"/>
                  </a:moveTo>
                  <a:lnTo>
                    <a:pt x="8509000" y="0"/>
                  </a:lnTo>
                  <a:lnTo>
                    <a:pt x="850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0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04875" y="619125"/>
            <a:ext cx="38100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F28C2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Q&amp;A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4875" y="1790700"/>
            <a:ext cx="10001250" cy="174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7"/>
              </a:lnSpc>
            </a:pPr>
            <a:r>
              <a:rPr lang="en-US" sz="70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would you</a:t>
            </a:r>
          </a:p>
          <a:p>
            <a:pPr algn="l">
              <a:lnSpc>
                <a:spcPts val="6697"/>
              </a:lnSpc>
            </a:pPr>
            <a:r>
              <a:rPr lang="en-US" sz="70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like to explore?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552950"/>
            <a:ext cx="9334500" cy="75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61616"/>
                </a:solidFill>
                <a:latin typeface="DM Sans"/>
                <a:ea typeface="DM Sans"/>
                <a:cs typeface="DM Sans"/>
                <a:sym typeface="DM Sans"/>
              </a:rPr>
              <a:t>Questions about CyberBot’s user experience, hybrid AI, architecture, testing or security topics are welcome.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6829425"/>
            <a:ext cx="666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&gt; live_demo --available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77750" y="1809750"/>
            <a:ext cx="4095750" cy="414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7"/>
              </a:lnSpc>
            </a:pPr>
            <a:r>
              <a:rPr lang="en-US" sz="32250" b="true">
                <a:solidFill>
                  <a:srgbClr val="16161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9658350"/>
            <a:ext cx="16573500" cy="337185"/>
            <a:chOff x="0" y="0"/>
            <a:chExt cx="22098000" cy="449580"/>
          </a:xfrm>
        </p:grpSpPr>
        <p:sp>
          <p:nvSpPr>
            <p:cNvPr name="AutoShape 11" id="11"/>
            <p:cNvSpPr/>
            <p:nvPr/>
          </p:nvSpPr>
          <p:spPr>
            <a:xfrm>
              <a:off x="0" y="12700"/>
              <a:ext cx="22098000" cy="0"/>
            </a:xfrm>
            <a:prstGeom prst="line">
              <a:avLst/>
            </a:prstGeom>
            <a:ln cap="flat" w="254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587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CYBERBOT / QUESTIONS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955000" y="158750"/>
              <a:ext cx="1143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b="true" sz="1350" spc="162">
                  <a:solidFill>
                    <a:srgbClr val="161616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DAHWPdKdYOs</dc:identifier>
  <dcterms:modified xsi:type="dcterms:W3CDTF">2011-08-01T06:04:30Z</dcterms:modified>
  <cp:revision>1</cp:revision>
  <dc:title>CyberBot Awareness</dc:title>
</cp:coreProperties>
</file>